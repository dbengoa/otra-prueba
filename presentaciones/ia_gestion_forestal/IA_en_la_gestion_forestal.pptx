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conceptual. Tres usos complementarios: asistencia documental, desarrollo de herramientas geoespaciales y predicción temporal. Las dos imágenes son ilustraciones generadas con IA; no representan datos ni una localización real identificada. La responsabilidad y validación técnica corresponden al profesional. Fecha: 21 de octubre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IA facilita la primera redacción y la comparación documental, pero sus observaciones son indicios que deben comprobarse. Verificar cifras, referencias, requisitos, alcance y normativa vigente; evitar datos sensibles en servicios no autorizados. La revisión jurídica y técnica final es humana. No se presentan porcentajes de ahorro no medidos.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trabajo desarrollado incluye Inventario forestal LiDAR 0.4.4 y Modelización forestal LiDAR 0.3.0, ambos experimentales. El primero integra CNIG/LAZ/LAS, FUSION, MDT clase 2, normalización y CloudMetrics; el segundo cruza métricas y campo por ID y ajusta modelos. El seguimiento satelital y las alertas de daños son una línea de aplicación: una anomalía espectral no identifica por sí sola una enfermedad o plaga y requiere contraste temporal y de campo. Las pruebas de software no validan automáticamente las ecuaciones forestales. Fuente técnica: https://forsys.sefs.uw.edu/software/fusion/FUSION_manual.pdf . Repositorio: https://github.com/dbengoa/otra-prueba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FCC: fracción de cabida cubierta. H: altura; V: volumen; G: área basal o basimétrica. Es una propuesta, no un sistema de predicción ya validado. Necesita co-registro y armonización de mapas/vuelos, fechas de campo, histórico de cortas y daños. Separar crecimiento biológico de cambio neto. Introducir cortas y perturbaciones como hipótesis de escenario no garantiza estimar su efecto causal. Evaluar reservando fechas posteriores y bloques espaciales; comparar con persistencia y modelos sencillos y propagar la incertidumbre de los mapas originales. Las proyecciones dependen de las condiciones futuras supuestas. Referencia: https://doi.org/10.1111/ecog.02881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supervisión profesional es transversal a los tres ejemplos. Distinguir producto desarrollado, ensayo experimental y propuesta de ampliación. Preservar originales, documentar versiones y fuentes, revisar errores y mantener la trazabilidad de las decisiones. Los datos de predicción no son observaciones independientes si proceden de cartografías modelizadas y espacialmente correlacionadas.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lustracion_1.jpg"/>
          <p:cNvPicPr>
            <a:picLocks noChangeAspect="1"/>
          </p:cNvPicPr>
          <p:nvPr/>
        </p:nvPicPr>
        <p:blipFill>
          <a:blip r:embed="rId2"/>
          <a:srcRect l="44771"/>
          <a:stretch>
            <a:fillRect/>
          </a:stretch>
        </p:blipFill>
        <p:spPr>
          <a:xfrm>
            <a:off x="5468112" y="0"/>
            <a:ext cx="672998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468112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45720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4756B"/>
                </a:solidFill>
                <a:latin typeface="Arial"/>
              </a:defRPr>
            </a:pPr>
            <a:r>
              <a:t>TRES APLICACIONES PRÁCTICAS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4663440" cy="2560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909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73F37"/>
                </a:solidFill>
                <a:latin typeface="Arial"/>
              </a:defRPr>
            </a:pPr>
            <a:r>
              <a:t>Inteligencia</a:t>
            </a:r>
          </a:p>
          <a:p>
            <a:pPr>
              <a:lnSpc>
                <a:spcPts val="3909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73F37"/>
                </a:solidFill>
                <a:latin typeface="Arial"/>
              </a:defRPr>
            </a:pPr>
            <a:r>
              <a:t>artificial en la</a:t>
            </a:r>
          </a:p>
          <a:p>
            <a:pPr>
              <a:lnSpc>
                <a:spcPts val="3909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73F37"/>
                </a:solidFill>
                <a:latin typeface="Arial"/>
              </a:defRPr>
            </a:pPr>
            <a:r>
              <a:t>gestión forestal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05072"/>
            <a:ext cx="4617720" cy="1234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B6D65"/>
                </a:solidFill>
                <a:latin typeface="Arial"/>
              </a:defRPr>
            </a:pPr>
            <a:r>
              <a:t>Documentar, automatizar</a:t>
            </a:r>
          </a:p>
          <a:p>
            <a:pPr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B6D65"/>
                </a:solidFill>
                <a:latin typeface="Arial"/>
              </a:defRPr>
            </a:pPr>
            <a:r>
              <a:t>y anticipar la evolución</a:t>
            </a:r>
          </a:p>
          <a:p>
            <a:pPr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B6D65"/>
                </a:solidFill>
                <a:latin typeface="Arial"/>
              </a:defRPr>
            </a:pPr>
            <a:r>
              <a:t>de las masas forestales.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623560"/>
            <a:ext cx="4343400" cy="41148"/>
          </a:xfrm>
          <a:prstGeom prst="rect">
            <a:avLst/>
          </a:prstGeom>
          <a:solidFill>
            <a:srgbClr val="BD9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879592"/>
            <a:ext cx="45720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4756B"/>
                </a:solidFill>
                <a:latin typeface="Arial"/>
              </a:defRPr>
            </a:pPr>
            <a:r>
              <a:t>DOCUMENTOS · QGIS · PREDICCIÓN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83096"/>
            <a:ext cx="2560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t>Ilustración generada con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4756B"/>
                </a:solidFill>
                <a:latin typeface="Arial"/>
              </a:defRPr>
            </a:pPr>
            <a:r>
              <a:t>EJEMPLO 1 · IA GENERATIVA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3F37"/>
                </a:solidFill>
                <a:latin typeface="Arial"/>
              </a:defRPr>
            </a:pPr>
            <a:r>
              <a:t>Elaborar y revisar documentación técnica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42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2075688"/>
            <a:ext cx="73152" cy="365760"/>
          </a:xfrm>
          <a:prstGeom prst="rect">
            <a:avLst/>
          </a:prstGeom>
          <a:solidFill>
            <a:srgbClr val="BD9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057400"/>
            <a:ext cx="27889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F37"/>
                </a:solidFill>
                <a:latin typeface="Arial"/>
              </a:defRPr>
            </a:pPr>
            <a:r>
              <a:t>BORRADORES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743200"/>
            <a:ext cx="2935224" cy="2377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Informes y memorias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Pliegos técnicos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Borradores de proyectos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2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90288" y="2075688"/>
            <a:ext cx="73152" cy="365760"/>
          </a:xfrm>
          <a:prstGeom prst="rect">
            <a:avLst/>
          </a:prstGeom>
          <a:solidFill>
            <a:srgbClr val="BD9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1" y="2057400"/>
            <a:ext cx="27889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F37"/>
                </a:solidFill>
                <a:latin typeface="Arial"/>
              </a:defRPr>
            </a:pPr>
            <a:r>
              <a:t>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743200"/>
            <a:ext cx="2935224" cy="2377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Errores e incongruencias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Datos, unidades y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referencias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Coherencia entre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documentos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42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30768" y="2075688"/>
            <a:ext cx="73152" cy="365760"/>
          </a:xfrm>
          <a:prstGeom prst="rect">
            <a:avLst/>
          </a:prstGeom>
          <a:solidFill>
            <a:srgbClr val="BD9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2057400"/>
            <a:ext cx="27889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F37"/>
                </a:solidFill>
                <a:latin typeface="Arial"/>
              </a:defRPr>
            </a:pPr>
            <a:r>
              <a:t>SUPERVISIÓN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2743200"/>
            <a:ext cx="2935224" cy="2377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Contrastar con las fuentes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Revisar el criterio técnico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Aprobar el documento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final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66928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4756B"/>
                </a:solidFill>
                <a:latin typeface="Arial"/>
              </a:defRPr>
            </a:pPr>
            <a:r>
              <a:t>Documentos de partida → La IA propone y señala → El técnico revisa y valida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83096"/>
            <a:ext cx="9144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6D65"/>
                </a:solidFill>
                <a:latin typeface="Arial"/>
              </a:defRPr>
            </a:pPr>
            <a:r>
              <a:t>IA APLICADA A LA GESTIÓN FORESTAL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83096"/>
            <a:ext cx="594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6D65"/>
                </a:solidFill>
                <a:latin typeface="Arial"/>
              </a:defRPr>
            </a:pPr>
            <a: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4756B"/>
                </a:solidFill>
                <a:latin typeface="Arial"/>
              </a:defRPr>
            </a:pPr>
            <a:r>
              <a:t>EJEMPLO 2 · DESARROLLO ASISTIDO POR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3F37"/>
                </a:solidFill>
                <a:latin typeface="Arial"/>
              </a:defRPr>
            </a:pPr>
            <a:r>
              <a:t>Plugins para QGIS: satélite y LiDAR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4756B"/>
                </a:solidFill>
                <a:latin typeface="Arial"/>
              </a:defRPr>
            </a:pPr>
            <a:r>
              <a:t>SATÉLITE · APLICACIÓN 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0280"/>
            <a:ext cx="5532120" cy="1280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Seguimiento de la vegetación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Anomalías compatibles con estrés o daños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Alertas de plagas y enfermedades a verificar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5532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4756B"/>
                </a:solidFill>
                <a:latin typeface="Arial"/>
              </a:defRPr>
            </a:pPr>
            <a:r>
              <a:t>LiDAR · TRABAJO DESARROLLADO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5532120" cy="1325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MDT, alturas y métricas por parcela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Estimación de volumen, área basal y altura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Modelización con datos de campo</a:t>
            </a:r>
          </a:p>
        </p:txBody>
      </p:sp>
      <p:pic>
        <p:nvPicPr>
          <p:cNvPr id="8" name="Picture 7" descr="ilustracion_2.jpg"/>
          <p:cNvPicPr>
            <a:picLocks noChangeAspect="1"/>
          </p:cNvPicPr>
          <p:nvPr/>
        </p:nvPicPr>
        <p:blipFill>
          <a:blip r:embed="rId2"/>
          <a:srcRect l="2410" r="2410"/>
          <a:stretch>
            <a:fillRect/>
          </a:stretch>
        </p:blipFill>
        <p:spPr>
          <a:xfrm>
            <a:off x="6400800" y="1874519"/>
            <a:ext cx="525780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5166360"/>
            <a:ext cx="516636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B6D65"/>
                </a:solidFill>
                <a:latin typeface="Arial"/>
              </a:defRPr>
            </a:pPr>
            <a:r>
              <a:t>Ilustración conceptual; no son mediciones reales.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797296"/>
            <a:ext cx="11109960" cy="384048"/>
          </a:xfrm>
          <a:prstGeom prst="rect">
            <a:avLst/>
          </a:prstGeom>
          <a:solidFill>
            <a:srgbClr val="E5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879592"/>
            <a:ext cx="10744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4756B"/>
                </a:solidFill>
                <a:latin typeface="Arial"/>
              </a:defRPr>
            </a:pPr>
            <a:r>
              <a:t>ChatGPT Codex + Python / PyQGIS + GitHub: código, pruebas y versiones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83096"/>
            <a:ext cx="9144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6D65"/>
                </a:solidFill>
                <a:latin typeface="Arial"/>
              </a:defRPr>
            </a:pPr>
            <a:r>
              <a:t>IA APLICADA A LA GESTIÓN FORESTAL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83096"/>
            <a:ext cx="594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6D65"/>
                </a:solidFill>
                <a:latin typeface="Arial"/>
              </a:defRPr>
            </a:pPr>
            <a: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4756B"/>
                </a:solidFill>
                <a:latin typeface="Arial"/>
              </a:defRPr>
            </a:pPr>
            <a:r>
              <a:t>EJEMPLO 3 · IA PREDICTIVA ·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3F37"/>
                </a:solidFill>
                <a:latin typeface="Arial"/>
              </a:defRPr>
            </a:pPr>
            <a:r>
              <a:t>Predecir la evolución de la masa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B6D65"/>
                </a:solidFill>
                <a:latin typeface="Arial"/>
              </a:defRPr>
            </a:pPr>
            <a:r>
              <a:t>Aprender de observaciones repetidas y comparar escenarios de gestión.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58568"/>
            <a:ext cx="3429000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2505456"/>
            <a:ext cx="73152" cy="365760"/>
          </a:xfrm>
          <a:prstGeom prst="rect">
            <a:avLst/>
          </a:prstGeom>
          <a:solidFill>
            <a:srgbClr val="BD9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487168"/>
            <a:ext cx="27889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F37"/>
                </a:solidFill>
                <a:latin typeface="Arial"/>
              </a:defRPr>
            </a:pPr>
            <a:r>
              <a:t>BASE HISTÓRICA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172968"/>
            <a:ext cx="2935224" cy="1435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Vuelos de distintos años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Volumen, área basal,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altura y FCC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Campo y tratamientos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conocidos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58568"/>
            <a:ext cx="3429000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90288" y="2505456"/>
            <a:ext cx="73152" cy="365760"/>
          </a:xfrm>
          <a:prstGeom prst="rect">
            <a:avLst/>
          </a:prstGeom>
          <a:solidFill>
            <a:srgbClr val="BD9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1" y="2487168"/>
            <a:ext cx="27889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F37"/>
                </a:solidFill>
                <a:latin typeface="Arial"/>
              </a:defRPr>
            </a:pPr>
            <a:r>
              <a:t>MODELO PREDICTIVO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172968"/>
            <a:ext cx="2935224" cy="1435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Aprender los incrementos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Separar crecimiento y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pérdidas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Validar en fechas futuras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258568"/>
            <a:ext cx="3429000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30768" y="2505456"/>
            <a:ext cx="73152" cy="365760"/>
          </a:xfrm>
          <a:prstGeom prst="rect">
            <a:avLst/>
          </a:prstGeom>
          <a:solidFill>
            <a:srgbClr val="BD9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2487168"/>
            <a:ext cx="27889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F37"/>
                </a:solidFill>
                <a:latin typeface="Arial"/>
              </a:defRPr>
            </a:pPr>
            <a:r>
              <a:t>ESCENARIOS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F37"/>
                </a:solidFill>
                <a:latin typeface="Arial"/>
              </a:defRPr>
            </a:pPr>
            <a:r>
              <a:t>MANUALES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3172968"/>
            <a:ext cx="2935224" cy="1435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Introducir cortas y claras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Añadir perturbaciones</a:t>
            </a:r>
          </a:p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F37"/>
                </a:solidFill>
                <a:latin typeface="Arial"/>
              </a:defRPr>
            </a:pPr>
            <a:r>
              <a:t>Comparar escenarios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41648" y="3200400"/>
            <a:ext cx="2743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4756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3200400"/>
            <a:ext cx="2743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4756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20640"/>
            <a:ext cx="11887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4756B"/>
                </a:solidFill>
                <a:latin typeface="Arial"/>
              </a:defRPr>
            </a:pPr>
            <a:r>
              <a:t>SALIDAS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48640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3F37"/>
                </a:solidFill>
                <a:latin typeface="Arial"/>
              </a:defRPr>
            </a:pPr>
            <a:r>
              <a:t>Mapas futuros · incrementos de H, V y G · incertidumbre de la predicción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053328"/>
            <a:ext cx="10972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B6D65"/>
                </a:solidFill>
                <a:latin typeface="Arial"/>
              </a:defRPr>
            </a:pPr>
            <a:r>
              <a:t>Villoslada: caso de aplicación propuesto, pendiente de revisar y armonizar los datos.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83096"/>
            <a:ext cx="9144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6D65"/>
                </a:solidFill>
                <a:latin typeface="Arial"/>
              </a:defRPr>
            </a:pPr>
            <a:r>
              <a:t>IA APLICADA A LA GESTIÓN FORESTAL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83096"/>
            <a:ext cx="594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6D65"/>
                </a:solidFill>
                <a:latin typeface="Arial"/>
              </a:defRPr>
            </a:pPr>
            <a: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4756B"/>
                </a:solidFill>
                <a:latin typeface="Arial"/>
              </a:defRPr>
            </a:pPr>
            <a:r>
              <a:t>IMPLANTACIÓN Y CRITERIO PROFESIONAL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3F37"/>
                </a:solidFill>
                <a:latin typeface="Arial"/>
              </a:defRPr>
            </a:pPr>
            <a:r>
              <a:t>La IA asiste. El profesional decide.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B6D65"/>
                </a:solidFill>
                <a:latin typeface="Arial"/>
              </a:defRPr>
            </a:pPr>
            <a:r>
              <a:t>Una implantación gradual, trazable y verificable.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429000" cy="731520"/>
          </a:xfrm>
          <a:prstGeom prst="roundRect">
            <a:avLst>
              <a:gd name="adj" fmla="val 8000"/>
            </a:avLst>
          </a:prstGeom>
          <a:solidFill>
            <a:srgbClr val="247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624328"/>
            <a:ext cx="309067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Asistencia documental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423160"/>
            <a:ext cx="3429000" cy="731520"/>
          </a:xfrm>
          <a:prstGeom prst="roundRect">
            <a:avLst>
              <a:gd name="adj" fmla="val 8000"/>
            </a:avLst>
          </a:prstGeom>
          <a:solidFill>
            <a:srgbClr val="247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2624328"/>
            <a:ext cx="309067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Automatización QGIS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423160"/>
            <a:ext cx="3429000" cy="731520"/>
          </a:xfrm>
          <a:prstGeom prst="roundRect">
            <a:avLst>
              <a:gd name="adj" fmla="val 8000"/>
            </a:avLst>
          </a:prstGeom>
          <a:solidFill>
            <a:srgbClr val="247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2624328"/>
            <a:ext cx="309067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Predicción forestal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8" y="2606040"/>
            <a:ext cx="2743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4756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7" y="2606040"/>
            <a:ext cx="2743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4756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76472"/>
            <a:ext cx="34290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4756B"/>
                </a:solidFill>
                <a:latin typeface="Arial"/>
              </a:defRPr>
            </a:pPr>
            <a:r>
              <a:t>DATOS FIABLES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15968"/>
            <a:ext cx="342900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B6D65"/>
                </a:solidFill>
                <a:latin typeface="Arial"/>
              </a:defRPr>
            </a:pPr>
            <a:r>
              <a:t>Calidad, permisos y</a:t>
            </a:r>
          </a:p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B6D65"/>
                </a:solidFill>
                <a:latin typeface="Arial"/>
              </a:defRPr>
            </a:pPr>
            <a:r>
              <a:t>compatibilidad temporal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76472"/>
            <a:ext cx="34290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4756B"/>
                </a:solidFill>
                <a:latin typeface="Arial"/>
              </a:defRPr>
            </a:pPr>
            <a:r>
              <a:t>VALIDACIÓN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315968"/>
            <a:ext cx="342900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B6D65"/>
                </a:solidFill>
                <a:latin typeface="Arial"/>
              </a:defRPr>
            </a:pPr>
            <a:r>
              <a:t>Errores, incertidumbre y</a:t>
            </a:r>
          </a:p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B6D65"/>
                </a:solidFill>
                <a:latin typeface="Arial"/>
              </a:defRPr>
            </a:pPr>
            <a:r>
              <a:t>comprobación en campo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776472"/>
            <a:ext cx="34290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4756B"/>
                </a:solidFill>
                <a:latin typeface="Arial"/>
              </a:defRPr>
            </a:pPr>
            <a:r>
              <a:t>SUPERVISIÓN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315968"/>
            <a:ext cx="342900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B6D65"/>
                </a:solidFill>
                <a:latin typeface="Arial"/>
              </a:defRPr>
            </a:pPr>
            <a:r>
              <a:t>Interpretación forestal y</a:t>
            </a:r>
          </a:p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B6D65"/>
                </a:solidFill>
                <a:latin typeface="Arial"/>
              </a:defRPr>
            </a:pPr>
            <a:r>
              <a:t>aprobación del resultado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50992"/>
            <a:ext cx="11109960" cy="54864"/>
          </a:xfrm>
          <a:prstGeom prst="rect">
            <a:avLst/>
          </a:prstGeom>
          <a:solidFill>
            <a:srgbClr val="BD9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89788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3F37"/>
                </a:solidFill>
                <a:latin typeface="Arial"/>
              </a:defRPr>
            </a:pPr>
            <a:r>
              <a:t>Empezar con un caso piloto. Medir resultados. Ampliar sólo lo validado.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83096"/>
            <a:ext cx="9144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6D65"/>
                </a:solidFill>
                <a:latin typeface="Arial"/>
              </a:defRPr>
            </a:pPr>
            <a:r>
              <a:t>IA APLICADA A LA GESTIÓN FORESTAL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83096"/>
            <a:ext cx="594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6D65"/>
                </a:solidFill>
                <a:latin typeface="Arial"/>
              </a:defRPr>
            </a:pPr>
            <a: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Inteligencia artificial en la gestión forestal</dc:title>
  <dc:subject>Documentación técnica, QGIS y predicción de la evolución forestal</dc:subject>
  <dc:creator/>
  <cp:keywords>IA, gestión forestal, QGIS, LiDAR, documentación, predicción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